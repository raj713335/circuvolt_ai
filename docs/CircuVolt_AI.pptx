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3" r:id="rId12"/>
  </p:sldIdLst>
  <p:sldSz cx="9144000" cy="5143500" type="screen16x9"/>
  <p:notesSz cx="6858000" cy="9144000"/>
  <p:embeddedFontLst>
    <p:embeddedFont>
      <p:font typeface="Figtree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ea4f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ea4f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5ea4ffb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5ea4ffb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EAF6A249-FB97-CB9D-8A27-F53E3A6B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4DEE881F-FEB0-BF8F-C501-AC3A6C25B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9244CCDF-3FF6-C45F-9C4B-C735C776A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5740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2D6FB3F-2ED1-1A16-4C4C-6B13D5603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57756609-11D9-C206-8737-F0DD734AC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EF7C9836-2A14-93E0-753E-3CBC1DEDA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204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434FA6C-D400-3996-1B0B-8DA46BB9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0B62697A-B5F5-08CF-7F6F-54C6B83CB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9E1CD069-4896-AC5E-45C5-0624B1061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9722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5ea4ffb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5ea4ffb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5ea4ff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5ea4ff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80e6e05e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80e6e05e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ET AutoTech Hackathon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2026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4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AI for Circular Economy &amp; Sustainability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base234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Arnab Das &amp; Sayan Sinha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Theme Chosen - Brief Summary &amp; Proposed Solution/Idea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22564" y="1219199"/>
            <a:ext cx="8291945" cy="3349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IN" dirty="0" err="1">
                <a:solidFill>
                  <a:schemeClr val="bg1"/>
                </a:solidFill>
              </a:rPr>
              <a:t>CircuVolt</a:t>
            </a:r>
            <a:r>
              <a:rPr lang="en-IN" dirty="0">
                <a:solidFill>
                  <a:schemeClr val="bg1"/>
                </a:solidFill>
              </a:rPr>
              <a:t> AI: Vehicle Material Passport and Recovery Optimizer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IN" b="1" dirty="0">
                <a:solidFill>
                  <a:schemeClr val="bg1"/>
                </a:solidFill>
              </a:rPr>
              <a:t>Brief Summary: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CircuVolt</a:t>
            </a:r>
            <a:r>
              <a:rPr lang="en-IN" dirty="0">
                <a:solidFill>
                  <a:schemeClr val="bg1"/>
                </a:solidFill>
              </a:rPr>
              <a:t> AI is an agentic AI platform that predicts EV battery State of Health (SOH), assigns second-life/recycling grades, generates EU-compliant, QR-based material passports, and recommends the safest, highest-value circular-economy pathway for all vehicle components.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IN" dirty="0">
                <a:solidFill>
                  <a:schemeClr val="bg1"/>
                </a:solidFill>
              </a:rPr>
              <a:t>This represents a complete paradigm shift from the traditional "scrap management" model. Instead of relying on manual, post-mortem sorting where vehicles are shredded into mixed, low-value scrap, this is a new predictive circularity engine. It utilizes LangGraph, MCP, and A2A protocols to intelligently route materials (reuse, repair, second-life, or recycle) at the intake stage, before value is destroyed. 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IMPACT OF PROPOSED SOLUTION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242455" y="1152475"/>
            <a:ext cx="8589845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Impact:</a:t>
            </a:r>
            <a:r>
              <a:rPr lang="en-IN" sz="1600" dirty="0">
                <a:solidFill>
                  <a:schemeClr val="bg1"/>
                </a:solidFill>
              </a:rPr>
              <a:t> Maximizes the economic and carbon-saving value of End-of-Life Vehicles (ELVs). By transitioning to an AI decision system, the platform ensures reusable parts are harvested effectively, EV batteries are confidently graded for stationary storage, and closed-loop material recycling is optimized. </a:t>
            </a:r>
          </a:p>
          <a:p>
            <a:pPr marL="11430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Scalability:</a:t>
            </a:r>
            <a:r>
              <a:rPr lang="en-IN" sz="1600" dirty="0">
                <a:solidFill>
                  <a:schemeClr val="bg1"/>
                </a:solidFill>
              </a:rPr>
              <a:t> Highly scalable due to its software-first, interoperable architecture. By exposing tools via the Model Context Protocol (MCP) and implementing Google's Agent-to-Agent (A2A) standard, the solution can easily scale to integrate with varied OEM databases, RVSFs (Registered Vehicle Scrapping Facilities), and external LLM APIs globally. </a:t>
            </a:r>
          </a:p>
          <a:p>
            <a:pPr marL="11430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Feasibility:</a:t>
            </a:r>
            <a:r>
              <a:rPr lang="en-IN" sz="1600" dirty="0">
                <a:solidFill>
                  <a:schemeClr val="bg1"/>
                </a:solidFill>
              </a:rPr>
              <a:t> The solution is entirely feasible today. It runs on a proven tech stack (FastAPI, React) and utilizes existing Battery Management System (BMS) logs, visual inspection data, and standard machine learning (</a:t>
            </a:r>
            <a:r>
              <a:rPr lang="en-IN" sz="1600" dirty="0" err="1">
                <a:solidFill>
                  <a:schemeClr val="bg1"/>
                </a:solidFill>
              </a:rPr>
              <a:t>XGBoost</a:t>
            </a:r>
            <a:r>
              <a:rPr lang="en-IN" sz="1600" dirty="0">
                <a:solidFill>
                  <a:schemeClr val="bg1"/>
                </a:solidFill>
              </a:rPr>
              <a:t>) to evaluate components against tangible metrics like resale value and avoided CO2e.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PROPOSED TECH STACK/ARCHITECTURE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21673" y="1152475"/>
            <a:ext cx="861062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Frontend Layer:</a:t>
            </a:r>
            <a:r>
              <a:rPr lang="en-IN" sz="1600" dirty="0">
                <a:solidFill>
                  <a:schemeClr val="bg1"/>
                </a:solidFill>
              </a:rPr>
              <a:t> React, Vite, </a:t>
            </a:r>
            <a:r>
              <a:rPr lang="en-IN" sz="1600" dirty="0" err="1">
                <a:solidFill>
                  <a:schemeClr val="bg1"/>
                </a:solidFill>
              </a:rPr>
              <a:t>CopilotKit</a:t>
            </a:r>
            <a:r>
              <a:rPr lang="en-IN" sz="1600" dirty="0">
                <a:solidFill>
                  <a:schemeClr val="bg1"/>
                </a:solidFill>
              </a:rPr>
              <a:t> (AG-UI Protocol for streaming AI state), React Three Fiber (for explorable 3D car models), Recharts (degradation analytics).</a:t>
            </a:r>
          </a:p>
          <a:p>
            <a:pPr marL="11430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Backend Layer:</a:t>
            </a:r>
            <a:r>
              <a:rPr lang="en-IN" sz="1600" dirty="0">
                <a:solidFill>
                  <a:schemeClr val="bg1"/>
                </a:solidFill>
              </a:rPr>
              <a:t> Python, FastAPI, SQLite (</a:t>
            </a:r>
            <a:r>
              <a:rPr lang="en-IN" sz="1600" dirty="0" err="1">
                <a:solidFill>
                  <a:schemeClr val="bg1"/>
                </a:solidFill>
              </a:rPr>
              <a:t>SQLAlchemy</a:t>
            </a:r>
            <a:r>
              <a:rPr lang="en-IN" sz="1600" dirty="0">
                <a:solidFill>
                  <a:schemeClr val="bg1"/>
                </a:solidFill>
              </a:rPr>
              <a:t> ORM).</a:t>
            </a:r>
          </a:p>
          <a:p>
            <a:pPr marL="11430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AI/ML Core:</a:t>
            </a:r>
            <a:r>
              <a:rPr lang="en-IN" sz="1600" dirty="0">
                <a:solidFill>
                  <a:schemeClr val="bg1"/>
                </a:solidFill>
              </a:rPr>
              <a:t> LangGraph (</a:t>
            </a:r>
            <a:r>
              <a:rPr lang="en-IN" sz="1600" dirty="0" err="1">
                <a:solidFill>
                  <a:schemeClr val="bg1"/>
                </a:solidFill>
              </a:rPr>
              <a:t>ReAct</a:t>
            </a:r>
            <a:r>
              <a:rPr lang="en-IN" sz="1600" dirty="0">
                <a:solidFill>
                  <a:schemeClr val="bg1"/>
                </a:solidFill>
              </a:rPr>
              <a:t> agent pattern), LangChain, Scikit-learn, </a:t>
            </a:r>
            <a:r>
              <a:rPr lang="en-IN" sz="1600" dirty="0" err="1">
                <a:solidFill>
                  <a:schemeClr val="bg1"/>
                </a:solidFill>
              </a:rPr>
              <a:t>GradientBoosting</a:t>
            </a:r>
            <a:r>
              <a:rPr lang="en-IN" sz="1600" dirty="0">
                <a:solidFill>
                  <a:schemeClr val="bg1"/>
                </a:solidFill>
              </a:rPr>
              <a:t> (SOH Inference with SHAP explainability).</a:t>
            </a:r>
          </a:p>
          <a:p>
            <a:pPr marL="11430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Protocols:</a:t>
            </a:r>
            <a:r>
              <a:rPr lang="en-IN" sz="1600" dirty="0">
                <a:solidFill>
                  <a:schemeClr val="bg1"/>
                </a:solidFill>
              </a:rPr>
              <a:t> MCP (Model Context Protocol), A2A (Agent-to-Agent Protocol), AGUI (Agentic UI) Protocol.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600"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84806"/>
            <a:ext cx="8520600" cy="48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</a:rPr>
              <a:t>Architecture Diagrams, Screenshots/Video Demo of Application</a:t>
            </a:r>
            <a:endParaRPr sz="2000" dirty="0">
              <a:solidFill>
                <a:schemeClr val="l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2BF7C-1CA9-853E-1EF1-B0F6776FF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06" y="568036"/>
            <a:ext cx="8065414" cy="45392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1895ABB5-6556-FBA6-9417-EBF514BA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49DD641E-887A-C684-5F8F-476C42A4E9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84806"/>
            <a:ext cx="8520600" cy="48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</a:rPr>
              <a:t>Architecture Diagrams, Screenshots/Video Demo of Application</a:t>
            </a:r>
            <a:endParaRPr sz="2000" dirty="0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99255E-44C0-ACFA-2603-8DE1771B2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91" y="571641"/>
            <a:ext cx="7980218" cy="448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52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79425DDD-7E0D-5ED8-7CF7-10F80330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86487515-3CF6-0510-302F-F7B9F773B9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84806"/>
            <a:ext cx="8520600" cy="48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</a:rPr>
              <a:t>Architecture Diagrams, Screenshots/Video Demo of Application</a:t>
            </a:r>
            <a:endParaRPr sz="2000" dirty="0">
              <a:solidFill>
                <a:schemeClr val="l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F6812-1312-A04D-C6A7-C78C94C40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5" y="568036"/>
            <a:ext cx="7855527" cy="441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08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B6C0FB55-1546-BFC5-5BE5-CDDF4425F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1F17CBBE-78EB-E1F0-C44A-3968FBD5C5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84806"/>
            <a:ext cx="8520600" cy="48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</a:rPr>
              <a:t>Architecture Diagrams, Screenshots/Video Demo of Application</a:t>
            </a:r>
            <a:endParaRPr sz="2000" dirty="0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2025B-7509-473D-EB06-D9083487A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35" y="568036"/>
            <a:ext cx="7952509" cy="447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4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Why your solution must be considered?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68791"/>
            <a:ext cx="8520600" cy="3529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Regulatory Compliance:</a:t>
            </a:r>
            <a:r>
              <a:rPr lang="en-IN" sz="1600" dirty="0">
                <a:solidFill>
                  <a:schemeClr val="bg1"/>
                </a:solidFill>
              </a:rPr>
              <a:t> Digital material passports and SOH transparency are rapidly becoming strict, unavoidable legal requirements (e.g., EU Battery Regulation 2023/1542, India's Battery Waste Management Rules 2022). </a:t>
            </a:r>
          </a:p>
          <a:p>
            <a:pPr marL="11430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Highest Value Capture:</a:t>
            </a:r>
            <a:r>
              <a:rPr lang="en-IN" sz="1600" dirty="0">
                <a:solidFill>
                  <a:schemeClr val="bg1"/>
                </a:solidFill>
              </a:rPr>
              <a:t> Most vehicle recycling starts too late after shredding. This solution captures maximum revenue by optimizing the hierarchy of circularity: reuse as-is, repair, second-life use, and closed-loop recycling. </a:t>
            </a:r>
          </a:p>
          <a:p>
            <a:pPr marL="11430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Agentic Interoperability:</a:t>
            </a:r>
            <a:r>
              <a:rPr lang="en-IN" sz="1600" dirty="0">
                <a:solidFill>
                  <a:schemeClr val="bg1"/>
                </a:solidFill>
              </a:rPr>
              <a:t> By building natively with the newest agentic protocols (A2A, MCP), this platform doesn't just run predictions; it allows future automotive and supply chain AI agents to autonomously query and interact with </a:t>
            </a:r>
            <a:r>
              <a:rPr lang="en-IN" sz="1600" dirty="0" err="1">
                <a:solidFill>
                  <a:schemeClr val="bg1"/>
                </a:solidFill>
              </a:rPr>
              <a:t>CircularDrive</a:t>
            </a:r>
            <a:r>
              <a:rPr lang="en-IN" sz="1600" dirty="0">
                <a:solidFill>
                  <a:schemeClr val="bg1"/>
                </a:solidFill>
              </a:rPr>
              <a:t> AI.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74045" y="19564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Any Additional Information/References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Haraz, A., </a:t>
            </a:r>
            <a:r>
              <a:rPr lang="en-IN" dirty="0" err="1">
                <a:solidFill>
                  <a:schemeClr val="bg1"/>
                </a:solidFill>
              </a:rPr>
              <a:t>Abualsaud</a:t>
            </a:r>
            <a:r>
              <a:rPr lang="en-IN" dirty="0">
                <a:solidFill>
                  <a:schemeClr val="bg1"/>
                </a:solidFill>
              </a:rPr>
              <a:t>, K. and Massoud, A. (2024) 'State-of-Health and State-of-Charge estimation in electric vehicles batteries: A survey on machine learning approaches', </a:t>
            </a:r>
            <a:r>
              <a:rPr lang="en-IN" i="1" dirty="0">
                <a:solidFill>
                  <a:schemeClr val="bg1"/>
                </a:solidFill>
              </a:rPr>
              <a:t>IEEE Access</a:t>
            </a:r>
            <a:r>
              <a:rPr lang="en-IN" dirty="0">
                <a:solidFill>
                  <a:schemeClr val="bg1"/>
                </a:solidFill>
              </a:rPr>
              <a:t>, 12, pp. 158110–158139. </a:t>
            </a:r>
            <a:r>
              <a:rPr lang="en-IN" dirty="0" err="1">
                <a:solidFill>
                  <a:schemeClr val="bg1"/>
                </a:solidFill>
              </a:rPr>
              <a:t>doi</a:t>
            </a:r>
            <a:r>
              <a:rPr lang="en-IN" dirty="0">
                <a:solidFill>
                  <a:schemeClr val="bg1"/>
                </a:solidFill>
              </a:rPr>
              <a:t>: 10.1109/access.2024.3486989.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Jafari, S. and Byun, Y.-C. (2022) '</a:t>
            </a:r>
            <a:r>
              <a:rPr lang="en-IN" dirty="0" err="1">
                <a:solidFill>
                  <a:schemeClr val="bg1"/>
                </a:solidFill>
              </a:rPr>
              <a:t>XGBoost</a:t>
            </a:r>
            <a:r>
              <a:rPr lang="en-IN" dirty="0">
                <a:solidFill>
                  <a:schemeClr val="bg1"/>
                </a:solidFill>
              </a:rPr>
              <a:t>-based remaining useful life estimation model with extended Kalman particle filter for lithium-ion batteries', </a:t>
            </a:r>
            <a:r>
              <a:rPr lang="en-IN" i="1" dirty="0">
                <a:solidFill>
                  <a:schemeClr val="bg1"/>
                </a:solidFill>
              </a:rPr>
              <a:t>Sensors</a:t>
            </a:r>
            <a:r>
              <a:rPr lang="en-IN" dirty="0">
                <a:solidFill>
                  <a:schemeClr val="bg1"/>
                </a:solidFill>
              </a:rPr>
              <a:t>, 22(23), p. 9522. </a:t>
            </a:r>
            <a:r>
              <a:rPr lang="en-IN" dirty="0" err="1">
                <a:solidFill>
                  <a:schemeClr val="bg1"/>
                </a:solidFill>
              </a:rPr>
              <a:t>doi</a:t>
            </a:r>
            <a:r>
              <a:rPr lang="en-IN" dirty="0">
                <a:solidFill>
                  <a:schemeClr val="bg1"/>
                </a:solidFill>
              </a:rPr>
              <a:t>: 10.3390/s22239522.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Xiao, Z., Jiang, B., Zhu, J., Wei, X. and Dai, H. (2024) 'State of health estimation for lithium-ion batteries using an explainable </a:t>
            </a:r>
            <a:r>
              <a:rPr lang="en-IN" dirty="0" err="1">
                <a:solidFill>
                  <a:schemeClr val="bg1"/>
                </a:solidFill>
              </a:rPr>
              <a:t>XGBoost</a:t>
            </a:r>
            <a:r>
              <a:rPr lang="en-IN" dirty="0">
                <a:solidFill>
                  <a:schemeClr val="bg1"/>
                </a:solidFill>
              </a:rPr>
              <a:t> model with parameter optimization', </a:t>
            </a:r>
            <a:r>
              <a:rPr lang="en-IN" i="1" dirty="0">
                <a:solidFill>
                  <a:schemeClr val="bg1"/>
                </a:solidFill>
              </a:rPr>
              <a:t>Batteries</a:t>
            </a:r>
            <a:r>
              <a:rPr lang="en-IN" dirty="0">
                <a:solidFill>
                  <a:schemeClr val="bg1"/>
                </a:solidFill>
              </a:rPr>
              <a:t>, 10(11), p. 394. </a:t>
            </a:r>
            <a:r>
              <a:rPr lang="en-IN" dirty="0" err="1">
                <a:solidFill>
                  <a:schemeClr val="bg1"/>
                </a:solidFill>
              </a:rPr>
              <a:t>doi</a:t>
            </a:r>
            <a:r>
              <a:rPr lang="en-IN" dirty="0">
                <a:solidFill>
                  <a:schemeClr val="bg1"/>
                </a:solidFill>
              </a:rPr>
              <a:t>: 10.3390/batteries10110394.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bg1"/>
                </a:solidFill>
              </a:rPr>
              <a:t>Second-Life Batteries &amp; Circular Economy Repurposing</a:t>
            </a:r>
            <a:endParaRPr lang="en-IN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Akram, M.N. and Abdul-Kader, W. (2024) 'Repurposing second-life EV batteries to advance sustainable development: A comprehensive review', </a:t>
            </a:r>
            <a:r>
              <a:rPr lang="en-IN" i="1" dirty="0">
                <a:solidFill>
                  <a:schemeClr val="bg1"/>
                </a:solidFill>
              </a:rPr>
              <a:t>Batteries</a:t>
            </a:r>
            <a:r>
              <a:rPr lang="en-IN" dirty="0">
                <a:solidFill>
                  <a:schemeClr val="bg1"/>
                </a:solidFill>
              </a:rPr>
              <a:t>, 10(12), p. 452. </a:t>
            </a:r>
            <a:r>
              <a:rPr lang="en-IN" dirty="0" err="1">
                <a:solidFill>
                  <a:schemeClr val="bg1"/>
                </a:solidFill>
              </a:rPr>
              <a:t>doi</a:t>
            </a:r>
            <a:r>
              <a:rPr lang="en-IN" dirty="0">
                <a:solidFill>
                  <a:schemeClr val="bg1"/>
                </a:solidFill>
              </a:rPr>
              <a:t>: 10.3390/batteries10120452.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>
                <a:solidFill>
                  <a:schemeClr val="bg1"/>
                </a:solidFill>
              </a:rPr>
              <a:t>Mekhmonov</a:t>
            </a:r>
            <a:r>
              <a:rPr lang="en-IN" dirty="0">
                <a:solidFill>
                  <a:schemeClr val="bg1"/>
                </a:solidFill>
              </a:rPr>
              <a:t>, R., Alawadi, A.H., Abbas, A.H.R., Jayashree, S., Santhi, G.B. and Raja Kumar, J.R. (2024) 'Second-life applications of electric vehicle batteries in energy storage', </a:t>
            </a:r>
            <a:r>
              <a:rPr lang="en-IN" i="1" dirty="0">
                <a:solidFill>
                  <a:schemeClr val="bg1"/>
                </a:solidFill>
              </a:rPr>
              <a:t>E3S Web of Conferences</a:t>
            </a:r>
            <a:r>
              <a:rPr lang="en-IN" dirty="0">
                <a:solidFill>
                  <a:schemeClr val="bg1"/>
                </a:solidFill>
              </a:rPr>
              <a:t>, 540, p. 02011. </a:t>
            </a:r>
            <a:r>
              <a:rPr lang="en-IN" dirty="0" err="1">
                <a:solidFill>
                  <a:schemeClr val="bg1"/>
                </a:solidFill>
              </a:rPr>
              <a:t>doi</a:t>
            </a:r>
            <a:r>
              <a:rPr lang="en-IN" dirty="0">
                <a:solidFill>
                  <a:schemeClr val="bg1"/>
                </a:solidFill>
              </a:rPr>
              <a:t>: 10.1051/e3sconf/202454002011.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bg1"/>
                </a:solidFill>
              </a:rPr>
              <a:t>Intelligent Disassembly &amp; AI Vision Systems</a:t>
            </a:r>
            <a:endParaRPr lang="en-IN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>
                <a:solidFill>
                  <a:schemeClr val="bg1"/>
                </a:solidFill>
              </a:rPr>
              <a:t>Beghi</a:t>
            </a:r>
            <a:r>
              <a:rPr lang="en-IN" dirty="0">
                <a:solidFill>
                  <a:schemeClr val="bg1"/>
                </a:solidFill>
              </a:rPr>
              <a:t>, M., </a:t>
            </a:r>
            <a:r>
              <a:rPr lang="en-IN" dirty="0" err="1">
                <a:solidFill>
                  <a:schemeClr val="bg1"/>
                </a:solidFill>
              </a:rPr>
              <a:t>Braghin</a:t>
            </a:r>
            <a:r>
              <a:rPr lang="en-IN" dirty="0">
                <a:solidFill>
                  <a:schemeClr val="bg1"/>
                </a:solidFill>
              </a:rPr>
              <a:t>, F. and </a:t>
            </a:r>
            <a:r>
              <a:rPr lang="en-IN" dirty="0" err="1">
                <a:solidFill>
                  <a:schemeClr val="bg1"/>
                </a:solidFill>
              </a:rPr>
              <a:t>Roveda</a:t>
            </a:r>
            <a:r>
              <a:rPr lang="en-IN" dirty="0">
                <a:solidFill>
                  <a:schemeClr val="bg1"/>
                </a:solidFill>
              </a:rPr>
              <a:t>, L. (2023) 'Enhancing disassembly practices for electric vehicle battery packs: A narrative comprehensive review', </a:t>
            </a:r>
            <a:r>
              <a:rPr lang="en-IN" i="1" dirty="0">
                <a:solidFill>
                  <a:schemeClr val="bg1"/>
                </a:solidFill>
              </a:rPr>
              <a:t>Designs</a:t>
            </a:r>
            <a:r>
              <a:rPr lang="en-IN" dirty="0">
                <a:solidFill>
                  <a:schemeClr val="bg1"/>
                </a:solidFill>
              </a:rPr>
              <a:t>, 7(5), p. 109. </a:t>
            </a:r>
            <a:r>
              <a:rPr lang="en-IN" dirty="0" err="1">
                <a:solidFill>
                  <a:schemeClr val="bg1"/>
                </a:solidFill>
              </a:rPr>
              <a:t>doi</a:t>
            </a:r>
            <a:r>
              <a:rPr lang="en-IN" dirty="0">
                <a:solidFill>
                  <a:schemeClr val="bg1"/>
                </a:solidFill>
              </a:rPr>
              <a:t>: 10.3390/designs7050109.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Li, J., Barwood, M. and </a:t>
            </a:r>
            <a:r>
              <a:rPr lang="en-IN" dirty="0" err="1">
                <a:solidFill>
                  <a:schemeClr val="bg1"/>
                </a:solidFill>
              </a:rPr>
              <a:t>Rahimifard</a:t>
            </a:r>
            <a:r>
              <a:rPr lang="en-IN" dirty="0">
                <a:solidFill>
                  <a:schemeClr val="bg1"/>
                </a:solidFill>
              </a:rPr>
              <a:t>, S. (2018) 'Robotic disassembly for increased recovery of strategically important materials from electrical vehicles', </a:t>
            </a:r>
            <a:r>
              <a:rPr lang="en-IN" i="1" dirty="0">
                <a:solidFill>
                  <a:schemeClr val="bg1"/>
                </a:solidFill>
              </a:rPr>
              <a:t>Robotics and Computer-Integrated Manufacturing</a:t>
            </a:r>
            <a:r>
              <a:rPr lang="en-IN" dirty="0">
                <a:solidFill>
                  <a:schemeClr val="bg1"/>
                </a:solidFill>
              </a:rPr>
              <a:t>, 50, pp. 203–212. </a:t>
            </a:r>
            <a:r>
              <a:rPr lang="en-IN" dirty="0" err="1">
                <a:solidFill>
                  <a:schemeClr val="bg1"/>
                </a:solidFill>
              </a:rPr>
              <a:t>doi</a:t>
            </a:r>
            <a:r>
              <a:rPr lang="en-IN" dirty="0">
                <a:solidFill>
                  <a:schemeClr val="bg1"/>
                </a:solidFill>
              </a:rPr>
              <a:t>: 10.1016/j.rcim.2017.09.013.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Zorn, M., Ionescu, C., Klohs, D., </a:t>
            </a:r>
            <a:r>
              <a:rPr lang="en-IN" dirty="0" err="1">
                <a:solidFill>
                  <a:schemeClr val="bg1"/>
                </a:solidFill>
              </a:rPr>
              <a:t>Zähl</a:t>
            </a:r>
            <a:r>
              <a:rPr lang="en-IN" dirty="0">
                <a:solidFill>
                  <a:schemeClr val="bg1"/>
                </a:solidFill>
              </a:rPr>
              <a:t>, K., </a:t>
            </a:r>
            <a:r>
              <a:rPr lang="en-IN" dirty="0" err="1">
                <a:solidFill>
                  <a:schemeClr val="bg1"/>
                </a:solidFill>
              </a:rPr>
              <a:t>Kisseler</a:t>
            </a:r>
            <a:r>
              <a:rPr lang="en-IN" dirty="0">
                <a:solidFill>
                  <a:schemeClr val="bg1"/>
                </a:solidFill>
              </a:rPr>
              <a:t>, N., </a:t>
            </a:r>
            <a:r>
              <a:rPr lang="en-IN" dirty="0" err="1">
                <a:solidFill>
                  <a:schemeClr val="bg1"/>
                </a:solidFill>
              </a:rPr>
              <a:t>Daldrup</a:t>
            </a:r>
            <a:r>
              <a:rPr lang="en-IN" dirty="0">
                <a:solidFill>
                  <a:schemeClr val="bg1"/>
                </a:solidFill>
              </a:rPr>
              <a:t>, A., Hams, S., Zheng, Y., Offermanns, C., Flamme, S., Henke, C., </a:t>
            </a:r>
            <a:r>
              <a:rPr lang="en-IN" dirty="0" err="1">
                <a:solidFill>
                  <a:schemeClr val="bg1"/>
                </a:solidFill>
              </a:rPr>
              <a:t>Kampker</a:t>
            </a:r>
            <a:r>
              <a:rPr lang="en-IN" dirty="0">
                <a:solidFill>
                  <a:schemeClr val="bg1"/>
                </a:solidFill>
              </a:rPr>
              <a:t>, A. and Friedrich, B. (2022) 'An approach for automated disassembly of lithium-ion battery packs and high-quality recycling using computer vision, </a:t>
            </a:r>
            <a:r>
              <a:rPr lang="en-IN" dirty="0" err="1">
                <a:solidFill>
                  <a:schemeClr val="bg1"/>
                </a:solidFill>
              </a:rPr>
              <a:t>labeling</a:t>
            </a:r>
            <a:r>
              <a:rPr lang="en-IN" dirty="0">
                <a:solidFill>
                  <a:schemeClr val="bg1"/>
                </a:solidFill>
              </a:rPr>
              <a:t>, and material characterization', </a:t>
            </a:r>
            <a:r>
              <a:rPr lang="en-IN" i="1" dirty="0">
                <a:solidFill>
                  <a:schemeClr val="bg1"/>
                </a:solidFill>
              </a:rPr>
              <a:t>Recycling</a:t>
            </a:r>
            <a:r>
              <a:rPr lang="en-IN" dirty="0">
                <a:solidFill>
                  <a:schemeClr val="bg1"/>
                </a:solidFill>
              </a:rPr>
              <a:t>, 7(4), p. 48. </a:t>
            </a:r>
            <a:r>
              <a:rPr lang="en-IN" dirty="0" err="1">
                <a:solidFill>
                  <a:schemeClr val="bg1"/>
                </a:solidFill>
              </a:rPr>
              <a:t>doi</a:t>
            </a:r>
            <a:r>
              <a:rPr lang="en-IN" dirty="0">
                <a:solidFill>
                  <a:schemeClr val="bg1"/>
                </a:solidFill>
              </a:rPr>
              <a:t>: 10.3390/recycling7040048.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THANK YOU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1027</Words>
  <Application>Microsoft Office PowerPoint</Application>
  <PresentationFormat>On-screen Show (16:9)</PresentationFormat>
  <Paragraphs>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Figtree</vt:lpstr>
      <vt:lpstr>Wingdings</vt:lpstr>
      <vt:lpstr>Simple Light</vt:lpstr>
      <vt:lpstr>ET AutoTech Hackathon 2026</vt:lpstr>
      <vt:lpstr>Theme Chosen - Brief Summary &amp; Proposed Solution/Idea</vt:lpstr>
      <vt:lpstr>IMPACT OF PROPOSED SOLUTION</vt:lpstr>
      <vt:lpstr>PROPOSED TECH STACK/ARCHITECTURE</vt:lpstr>
      <vt:lpstr>Architecture Diagrams, Screenshots/Video Demo of Application</vt:lpstr>
      <vt:lpstr>Architecture Diagrams, Screenshots/Video Demo of Application</vt:lpstr>
      <vt:lpstr>Architecture Diagrams, Screenshots/Video Demo of Application</vt:lpstr>
      <vt:lpstr>Architecture Diagrams, Screenshots/Video Demo of Application</vt:lpstr>
      <vt:lpstr>Why your solution must be considered?</vt:lpstr>
      <vt:lpstr>Any Additional Information/References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Arnab Das</cp:lastModifiedBy>
  <cp:revision>7</cp:revision>
  <dcterms:modified xsi:type="dcterms:W3CDTF">2026-06-04T12:20:15Z</dcterms:modified>
</cp:coreProperties>
</file>